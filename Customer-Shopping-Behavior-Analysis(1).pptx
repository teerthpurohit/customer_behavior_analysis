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Quattrocento"/>
      <p:regular r:id="rId17"/>
    </p:embeddedFont>
    <p:embeddedFont>
      <p:font typeface="Quattrocento"/>
      <p:regular r:id="rId18"/>
    </p:embeddedFont>
    <p:embeddedFont>
      <p:font typeface="Quattrocento"/>
      <p:regular r:id="rId19"/>
    </p:embeddedFont>
    <p:embeddedFont>
      <p:font typeface="Quattrocento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slideLayout" Target="../slideLayouts/slideLayout10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656761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Customer Shopping Behavior Analysis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423767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Uncovering insights from 3,900 purchases to guide strategic business decisions through data-driven analysis of spending patterns, customer segments, and product preferences.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1749266"/>
            <a:ext cx="2155388" cy="449818"/>
          </a:xfrm>
          <a:prstGeom prst="roundRect">
            <a:avLst>
              <a:gd name="adj" fmla="val 6386"/>
            </a:avLst>
          </a:prstGeom>
          <a:solidFill>
            <a:srgbClr val="441709"/>
          </a:solidFill>
          <a:ln/>
        </p:spPr>
      </p:sp>
      <p:sp>
        <p:nvSpPr>
          <p:cNvPr id="3" name="Text 1"/>
          <p:cNvSpPr/>
          <p:nvPr/>
        </p:nvSpPr>
        <p:spPr>
          <a:xfrm>
            <a:off x="981313" y="1821061"/>
            <a:ext cx="1868210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DATASET OVERVIEW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7724" y="2294811"/>
            <a:ext cx="6546294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Foundation: Our Data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37724" y="3477458"/>
            <a:ext cx="4118848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3,900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1488996" y="456640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37724" y="5061942"/>
            <a:ext cx="411884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Transactions analyzed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5255776" y="3477458"/>
            <a:ext cx="4118848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18</a:t>
            </a:r>
            <a:endParaRPr lang="en-US" sz="6200" dirty="0"/>
          </a:p>
        </p:txBody>
      </p:sp>
      <p:sp>
        <p:nvSpPr>
          <p:cNvPr id="9" name="Text 7"/>
          <p:cNvSpPr/>
          <p:nvPr/>
        </p:nvSpPr>
        <p:spPr>
          <a:xfrm>
            <a:off x="5907048" y="456640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55776" y="5061942"/>
            <a:ext cx="411884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Feature dimensions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9673828" y="3477458"/>
            <a:ext cx="4118848" cy="789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6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37</a:t>
            </a:r>
            <a:endParaRPr lang="en-US" sz="6200" dirty="0"/>
          </a:p>
        </p:txBody>
      </p:sp>
      <p:sp>
        <p:nvSpPr>
          <p:cNvPr id="12" name="Text 10"/>
          <p:cNvSpPr/>
          <p:nvPr/>
        </p:nvSpPr>
        <p:spPr>
          <a:xfrm>
            <a:off x="10325100" y="456640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673828" y="5061942"/>
            <a:ext cx="411884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 Review Rating only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837724" y="5714167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Dataset captures customer demographics, purchase details, and shopping behavior including age, gender, location, subscription status, product categories, discounts, and review ratings.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4009" y="1164193"/>
            <a:ext cx="5233749" cy="5411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250"/>
              </a:lnSpc>
              <a:buNone/>
            </a:pPr>
            <a:r>
              <a:rPr lang="en-US" sz="3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Data Preparation in Python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644009" y="1917383"/>
            <a:ext cx="183952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 Light" pitchFamily="34" charset="0"/>
                <a:ea typeface="Quattrocento Light" pitchFamily="34" charset="-122"/>
                <a:cs typeface="Quattrocento Light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4009" y="2207181"/>
            <a:ext cx="7855982" cy="2286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6" name="Text 3"/>
          <p:cNvSpPr/>
          <p:nvPr/>
        </p:nvSpPr>
        <p:spPr>
          <a:xfrm>
            <a:off x="644009" y="2344817"/>
            <a:ext cx="2671167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Data Loading &amp; Exploration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644009" y="2700099"/>
            <a:ext cx="7855982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Imported dataset using pandas, examined structure with df.info() and summary statistics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4009" y="3239691"/>
            <a:ext cx="183952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 Light" pitchFamily="34" charset="0"/>
                <a:ea typeface="Quattrocento Light" pitchFamily="34" charset="-122"/>
                <a:cs typeface="Quattrocento Light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4009" y="3529489"/>
            <a:ext cx="7855982" cy="2286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10" name="Text 7"/>
          <p:cNvSpPr/>
          <p:nvPr/>
        </p:nvSpPr>
        <p:spPr>
          <a:xfrm>
            <a:off x="644009" y="3667125"/>
            <a:ext cx="2182892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Missing Data Handling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44009" y="4022408"/>
            <a:ext cx="7855982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Imputed Review Rating nulls using median rating per product category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4009" y="4561999"/>
            <a:ext cx="183952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 Light" pitchFamily="34" charset="0"/>
                <a:ea typeface="Quattrocento Light" pitchFamily="34" charset="-122"/>
                <a:cs typeface="Quattrocento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44009" y="4851797"/>
            <a:ext cx="7855982" cy="2286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14" name="Text 11"/>
          <p:cNvSpPr/>
          <p:nvPr/>
        </p:nvSpPr>
        <p:spPr>
          <a:xfrm>
            <a:off x="644009" y="4989433"/>
            <a:ext cx="2164794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Feature Engineering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44009" y="5344716"/>
            <a:ext cx="7855982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Created age_group bins and purchase_frequency_days columns for deeper analysis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4009" y="5884307"/>
            <a:ext cx="183952" cy="2299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 Light" pitchFamily="34" charset="0"/>
                <a:ea typeface="Quattrocento Light" pitchFamily="34" charset="-122"/>
                <a:cs typeface="Quattrocento Light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4009" y="6174105"/>
            <a:ext cx="7855982" cy="22860"/>
          </a:xfrm>
          <a:prstGeom prst="rect">
            <a:avLst/>
          </a:prstGeom>
          <a:solidFill>
            <a:srgbClr val="EF9C82"/>
          </a:solidFill>
          <a:ln/>
        </p:spPr>
      </p:sp>
      <p:sp>
        <p:nvSpPr>
          <p:cNvPr id="18" name="Text 15"/>
          <p:cNvSpPr/>
          <p:nvPr/>
        </p:nvSpPr>
        <p:spPr>
          <a:xfrm>
            <a:off x="644009" y="6311741"/>
            <a:ext cx="2164794" cy="270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Database Integration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44009" y="6667024"/>
            <a:ext cx="7855982" cy="260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Connected to PostgreSQL and loaded cleaned data for SQL analysis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74150" y="1031677"/>
            <a:ext cx="1324928" cy="304443"/>
          </a:xfrm>
          <a:prstGeom prst="roundRect">
            <a:avLst>
              <a:gd name="adj" fmla="val 6726"/>
            </a:avLst>
          </a:prstGeom>
          <a:noFill/>
          <a:ln w="7620">
            <a:solidFill>
              <a:srgbClr val="EF9C82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84045" y="1115616"/>
            <a:ext cx="136446" cy="13644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088713" y="1090374"/>
            <a:ext cx="900470" cy="187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050" dirty="0">
                <a:solidFill>
                  <a:srgbClr val="EF9C82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SQL ANALYSIS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1774150" y="1384697"/>
            <a:ext cx="4244459" cy="5018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50"/>
              </a:lnSpc>
              <a:buNone/>
            </a:pPr>
            <a:r>
              <a:rPr lang="en-US" sz="31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Key Business Questions</a:t>
            </a:r>
            <a:endParaRPr lang="en-US" sz="3150" dirty="0"/>
          </a:p>
        </p:txBody>
      </p:sp>
      <p:sp>
        <p:nvSpPr>
          <p:cNvPr id="6" name="Shape 3"/>
          <p:cNvSpPr/>
          <p:nvPr/>
        </p:nvSpPr>
        <p:spPr>
          <a:xfrm>
            <a:off x="1774150" y="2205752"/>
            <a:ext cx="3608070" cy="1181100"/>
          </a:xfrm>
          <a:prstGeom prst="roundRect">
            <a:avLst>
              <a:gd name="adj" fmla="val 2167"/>
            </a:avLst>
          </a:prstGeom>
          <a:solidFill>
            <a:srgbClr val="315251"/>
          </a:solidFill>
          <a:ln/>
        </p:spPr>
      </p:sp>
      <p:sp>
        <p:nvSpPr>
          <p:cNvPr id="7" name="Text 4"/>
          <p:cNvSpPr/>
          <p:nvPr/>
        </p:nvSpPr>
        <p:spPr>
          <a:xfrm>
            <a:off x="1944767" y="2376368"/>
            <a:ext cx="2007513" cy="250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Revenue Analysis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944767" y="2748796"/>
            <a:ext cx="3266837" cy="467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Gender comparison and age group contributions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1774150" y="3508415"/>
            <a:ext cx="3608070" cy="1181100"/>
          </a:xfrm>
          <a:prstGeom prst="roundRect">
            <a:avLst>
              <a:gd name="adj" fmla="val 2167"/>
            </a:avLst>
          </a:prstGeom>
          <a:solidFill>
            <a:srgbClr val="315251"/>
          </a:solidFill>
          <a:ln/>
        </p:spPr>
      </p:sp>
      <p:sp>
        <p:nvSpPr>
          <p:cNvPr id="10" name="Text 7"/>
          <p:cNvSpPr/>
          <p:nvPr/>
        </p:nvSpPr>
        <p:spPr>
          <a:xfrm>
            <a:off x="1944767" y="3679031"/>
            <a:ext cx="2007513" cy="250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Customer Behavior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944767" y="4051459"/>
            <a:ext cx="3266837" cy="467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Discount usage patterns and spending habits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774150" y="4811077"/>
            <a:ext cx="3608070" cy="947380"/>
          </a:xfrm>
          <a:prstGeom prst="roundRect">
            <a:avLst>
              <a:gd name="adj" fmla="val 2702"/>
            </a:avLst>
          </a:prstGeom>
          <a:solidFill>
            <a:srgbClr val="315251"/>
          </a:solidFill>
          <a:ln/>
        </p:spPr>
      </p:sp>
      <p:sp>
        <p:nvSpPr>
          <p:cNvPr id="13" name="Text 10"/>
          <p:cNvSpPr/>
          <p:nvPr/>
        </p:nvSpPr>
        <p:spPr>
          <a:xfrm>
            <a:off x="1944767" y="4981694"/>
            <a:ext cx="2007513" cy="250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Product Performance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1944767" y="5354122"/>
            <a:ext cx="3266837" cy="2337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Top-rated items and category leaders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774150" y="5880021"/>
            <a:ext cx="3608070" cy="1181100"/>
          </a:xfrm>
          <a:prstGeom prst="roundRect">
            <a:avLst>
              <a:gd name="adj" fmla="val 2167"/>
            </a:avLst>
          </a:prstGeom>
          <a:solidFill>
            <a:srgbClr val="315251"/>
          </a:solidFill>
          <a:ln/>
        </p:spPr>
      </p:sp>
      <p:sp>
        <p:nvSpPr>
          <p:cNvPr id="16" name="Text 13"/>
          <p:cNvSpPr/>
          <p:nvPr/>
        </p:nvSpPr>
        <p:spPr>
          <a:xfrm>
            <a:off x="1944767" y="6050637"/>
            <a:ext cx="2007513" cy="2508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Segmentation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1944767" y="6423065"/>
            <a:ext cx="3266837" cy="4674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New, Returning, and Loyal customer classification</a:t>
            </a:r>
            <a:endParaRPr lang="en-US" sz="13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083" y="2663904"/>
            <a:ext cx="7057549" cy="39390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6399" y="619958"/>
            <a:ext cx="4816316" cy="601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Revenue Insights</a:t>
            </a:r>
            <a:endParaRPr lang="en-US" sz="3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399" y="1786342"/>
            <a:ext cx="8404860" cy="460166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27037" y="1659493"/>
            <a:ext cx="3317558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Gender &amp; Subscription Impact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9627037" y="2135505"/>
            <a:ext cx="4294584" cy="1214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Female customers generate slightly higher revenue. Subscribers show significantly higher total revenue and average spend compared to non-subscribers.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627037" y="3507938"/>
            <a:ext cx="4294584" cy="911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6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Express shipping users also demonstrate higher average purchase amounts than standard shipping customers.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719733"/>
            <a:ext cx="615374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Customer Segmentation</a:t>
            </a:r>
            <a:endParaRPr lang="en-US" sz="44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124" y="1782723"/>
            <a:ext cx="1196816" cy="143625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60256" y="202203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New Customers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760256" y="2517577"/>
            <a:ext cx="60324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First-time buyers exploring the catalog</a:t>
            </a:r>
            <a:endParaRPr lang="en-US" sz="18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124" y="3218974"/>
            <a:ext cx="1196816" cy="143625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60256" y="345828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Returning Customers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760256" y="3953828"/>
            <a:ext cx="60324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2-5 purchases showing growing engagement</a:t>
            </a:r>
            <a:endParaRPr lang="en-US" sz="18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124" y="4655225"/>
            <a:ext cx="1196816" cy="143625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60256" y="489454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Loyal Customers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760256" y="5390078"/>
            <a:ext cx="60324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5+ purchases, high subscription rate</a:t>
            </a:r>
            <a:endParaRPr lang="en-US" sz="1850" dirty="0"/>
          </a:p>
        </p:txBody>
      </p:sp>
      <p:sp>
        <p:nvSpPr>
          <p:cNvPr id="13" name="Text 7"/>
          <p:cNvSpPr/>
          <p:nvPr/>
        </p:nvSpPr>
        <p:spPr>
          <a:xfrm>
            <a:off x="6324124" y="6360676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Customers with more than 5 purchases show significantly higher subscription rates, indicating strong correlation between repeat buying and subscription adoption.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1640" y="1117163"/>
            <a:ext cx="6676668" cy="623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900"/>
              </a:lnSpc>
              <a:buNone/>
            </a:pPr>
            <a:r>
              <a:rPr lang="en-US" sz="39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Product Performance Leaders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640" y="2232779"/>
            <a:ext cx="8364617" cy="4668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0847" y="2361962"/>
            <a:ext cx="2771656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Top 5 Products by Rating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9630847" y="2861072"/>
            <a:ext cx="4265414" cy="6391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Highest-rated items show consistent quality and customer satisfaction across categories.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9630847" y="3687723"/>
            <a:ext cx="2493050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Category Champions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630847" y="4186833"/>
            <a:ext cx="4265414" cy="958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Identified top 3 most-purchased products within each category, revealing clear customer preferences and bestsellers.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630847" y="5333048"/>
            <a:ext cx="2505789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Discount Dependency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9630847" y="5832158"/>
            <a:ext cx="4265414" cy="958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Five products show highest percentage of discounted purchases, indicating price sensitivity in specific segments.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4538" y="617101"/>
            <a:ext cx="6645235" cy="5661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Age Group Revenue Distribution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4538" y="1613106"/>
            <a:ext cx="9624060" cy="52691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64538" y="7056953"/>
            <a:ext cx="12501324" cy="555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26-35 age group contributes the highest revenue, followed by 36-45. These demographics represent prime targets for marketing campaigns and product positioning strategies.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24124" y="2735937"/>
            <a:ext cx="2688788" cy="449818"/>
          </a:xfrm>
          <a:prstGeom prst="roundRect">
            <a:avLst>
              <a:gd name="adj" fmla="val 6386"/>
            </a:avLst>
          </a:prstGeom>
          <a:solidFill>
            <a:srgbClr val="441709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67713" y="2865120"/>
            <a:ext cx="191453" cy="19145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754892" y="2807732"/>
            <a:ext cx="2114431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POWER BI DASHBOARD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324124" y="3281482"/>
            <a:ext cx="681835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Interactive Visual Analytics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6324124" y="4344472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Comprehensive Power BI dashboard presents all insights visually with interactive filters for real-time exploration of customer segments, product performance, and revenue trends.</a:t>
            </a:r>
            <a:endParaRPr lang="en-US" sz="1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677353"/>
            <a:ext cx="715398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00"/>
              </a:lnSpc>
              <a:buNone/>
            </a:pPr>
            <a:r>
              <a:rPr lang="en-US" sz="44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Strategic Recommendations</a:t>
            </a:r>
            <a:endParaRPr lang="en-US" sz="4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724" y="2860119"/>
            <a:ext cx="1748195" cy="17481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37724" y="490751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Boost Subscriptions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37724" y="5403056"/>
            <a:ext cx="301430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Promote exclusive benefits to convert high-frequency buyers into subscribers</a:t>
            </a:r>
            <a:endParaRPr lang="en-US" sz="1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1233" y="2860119"/>
            <a:ext cx="1748195" cy="17481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51233" y="4907518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Loyalty Programs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151233" y="5403056"/>
            <a:ext cx="301430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Reward repeat buyers to accelerate movement into Loyal segment</a:t>
            </a:r>
            <a:endParaRPr lang="en-US" sz="18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4743" y="2860119"/>
            <a:ext cx="1748195" cy="174819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64743" y="4907518"/>
            <a:ext cx="294917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Review Discount Policy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464743" y="5403056"/>
            <a:ext cx="3014305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Balance promotional sales boosts with healthy margin control</a:t>
            </a:r>
            <a:endParaRPr lang="en-US" sz="18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8252" y="2860119"/>
            <a:ext cx="1748314" cy="174831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78252" y="490763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Targeted Marketing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778252" y="5403175"/>
            <a:ext cx="3014424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Focus on high-revenue age groups (26-45) and express-shipping users</a:t>
            </a:r>
            <a:endParaRPr lang="en-US" sz="1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2026-02-13T18:20:14Z</dcterms:created>
  <dcterms:modified xsi:type="dcterms:W3CDTF">2026-02-13T18:20:14Z</dcterms:modified>
</cp:coreProperties>
</file>